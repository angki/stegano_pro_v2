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E1A6"/>
    <a:srgbClr val="0F100D"/>
    <a:srgbClr val="073B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45558-AAAE-2DF4-FBFD-5089E3EF6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2BC1D-F563-8C93-7597-9E655170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05D6E-3C33-24C2-D730-6B76E048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A62B-1659-4390-89A5-6A240B5C8E56}" type="datetimeFigureOut">
              <a:rPr lang="en-ID" smtClean="0"/>
              <a:t>25/09/2025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D93DF-EE88-80DA-4138-F9F529E5E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996F9-D83B-8C61-0B6C-13A3BC4CB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793CD-BDC8-4684-AF41-14D2DC82DC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275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CF44F-3745-F131-761F-B87D321B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082D1-0DA9-0670-5D63-C89091122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3D7F2-DEE1-9DD8-82B6-D7A2BC58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A62B-1659-4390-89A5-6A240B5C8E56}" type="datetimeFigureOut">
              <a:rPr lang="en-ID" smtClean="0"/>
              <a:t>25/09/2025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B98F7-020C-74A9-9829-2F5C8EC4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B866-2645-30D9-F101-B9DE625E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793CD-BDC8-4684-AF41-14D2DC82DC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0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2046-D275-7946-39D2-FE17F6943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B9ACD-82FE-3B45-1B43-E31D156E4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42D85-34A9-4195-9E66-3BA0F1DD6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A62B-1659-4390-89A5-6A240B5C8E56}" type="datetimeFigureOut">
              <a:rPr lang="en-ID" smtClean="0"/>
              <a:t>25/09/2025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F45B8-ACE1-FBE3-11D6-42AE41A1B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5E15D-1C23-A15F-66A9-5C826FED2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793CD-BDC8-4684-AF41-14D2DC82DC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7713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62C0D-FD9D-4170-3F1E-9CDA67E1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26FAB-684D-FC6E-7B2D-30B48F735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7B9AA-27DC-4E27-1693-34D4D8FEE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A11A7-1949-56F7-D904-D87DE81E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A62B-1659-4390-89A5-6A240B5C8E56}" type="datetimeFigureOut">
              <a:rPr lang="en-ID" smtClean="0"/>
              <a:t>25/09/2025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92B92-141E-F8AF-C747-37715E89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7E966-71E3-0FB2-6934-17DA31AA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793CD-BDC8-4684-AF41-14D2DC82DC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77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2926-D405-6048-F184-F6E73413D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0F905-1ADE-CC67-83BE-17FC1C533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3174D-5676-317A-5CF5-FA1CFC7D9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D8356A-CBBE-0C44-00E1-1E9234F35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2A48AC-8820-7EAB-633B-168DC3E39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40531E-4BEF-8998-57D8-8B2770F9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A62B-1659-4390-89A5-6A240B5C8E56}" type="datetimeFigureOut">
              <a:rPr lang="en-ID" smtClean="0"/>
              <a:t>25/09/2025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0C301-4C43-E327-AF76-9326587C7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FE82E7-0D3E-B260-4FAA-97066638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793CD-BDC8-4684-AF41-14D2DC82DC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875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D892-056D-FDF3-9258-B005CF00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B26AA-5AB1-66FC-F60E-5E3E68E14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A62B-1659-4390-89A5-6A240B5C8E56}" type="datetimeFigureOut">
              <a:rPr lang="en-ID" smtClean="0"/>
              <a:t>25/09/2025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97897F-21F9-5EE7-AE7E-AD5CDF124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420A7-49B8-404F-B3FB-AA994DF7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793CD-BDC8-4684-AF41-14D2DC82DC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1399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60532-2031-D6D9-43CD-F9069693A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A62B-1659-4390-89A5-6A240B5C8E56}" type="datetimeFigureOut">
              <a:rPr lang="en-ID" smtClean="0"/>
              <a:t>25/09/2025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D5500-7266-9DC0-75F6-ECB3D61C9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7C9FE-8820-4188-7B9F-48AF222F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793CD-BDC8-4684-AF41-14D2DC82DC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009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86C9A-6717-9556-0CC4-989A611DA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A0343-393A-D551-1E6E-0A0552C7B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4E86B-1C29-8F74-A9C9-9257B9499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8C2B6-2562-EFD5-62A0-C35619926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A62B-1659-4390-89A5-6A240B5C8E56}" type="datetimeFigureOut">
              <a:rPr lang="en-ID" smtClean="0"/>
              <a:t>25/09/2025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03A03-4365-76AB-7400-14F50452B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B6D5C-2D9F-C842-99CD-7BC972DD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793CD-BDC8-4684-AF41-14D2DC82DC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611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A9EE-745F-F744-5C1C-99A9B5D4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6D9E95-8274-AA51-C48B-E4A627AA1F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BC5CE-2C8F-57F0-9948-72F906183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5552B-F39F-350D-2912-9EE458BE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A62B-1659-4390-89A5-6A240B5C8E56}" type="datetimeFigureOut">
              <a:rPr lang="en-ID" smtClean="0"/>
              <a:t>25/09/2025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DFD04-9B1C-13BE-8A7D-8586D4C4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CEAA7-2DA5-45F2-85B7-8C0CAB7BD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793CD-BDC8-4684-AF41-14D2DC82DC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835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4C54-B61B-586B-76DA-E2A49C71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B3D26-EE21-C492-DDD2-6D6CEAC9C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F34B2-EA16-A9AF-5302-CF1E9A170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A62B-1659-4390-89A5-6A240B5C8E56}" type="datetimeFigureOut">
              <a:rPr lang="en-ID" smtClean="0"/>
              <a:t>25/09/2025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E432-8ADD-FABF-30C7-879451E0C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A9090-B1A2-FAEF-AD3F-527F8CABE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793CD-BDC8-4684-AF41-14D2DC82DC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6550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EAC39-62DE-EBF6-BA27-B19C5B45F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63FC6-1F0E-58A7-1BAD-A9991D2F3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EC852-57F2-A6C8-7D39-FAFA5793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A62B-1659-4390-89A5-6A240B5C8E56}" type="datetimeFigureOut">
              <a:rPr lang="en-ID" smtClean="0"/>
              <a:t>25/09/2025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2B405-16AA-6112-24BB-7AC39968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1063D-9352-94CA-454B-5D7B0DED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793CD-BDC8-4684-AF41-14D2DC82DC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048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76BBF-9D0C-1BDF-7A54-820AEC528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C4EDC-7200-4996-812F-EDAF38A09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14F68-4B0B-A10B-F9C7-40B5B2D5BD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CA62B-1659-4390-89A5-6A240B5C8E56}" type="datetimeFigureOut">
              <a:rPr lang="en-ID" smtClean="0"/>
              <a:t>25/09/2025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1C7DD-CA28-1BC1-FC2F-2408B11FC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BF7BD-ED76-7477-5C15-E617FAA0F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793CD-BDC8-4684-AF41-14D2DC82DC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373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B2D71-C2A8-B61F-0942-D0CE7323B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3691"/>
            <a:ext cx="9144000" cy="2170545"/>
          </a:xfrm>
        </p:spPr>
        <p:txBody>
          <a:bodyPr>
            <a:normAutofit/>
          </a:bodyPr>
          <a:lstStyle/>
          <a:p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Manajemen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Risiko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Siber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B19FED-FE60-08D4-F315-AE822A3AA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0100"/>
            <a:ext cx="9144000" cy="1505238"/>
          </a:xfrm>
        </p:spPr>
        <p:txBody>
          <a:bodyPr/>
          <a:lstStyle/>
          <a:p>
            <a:r>
              <a:rPr lang="en-ID" b="1" i="0" dirty="0" err="1">
                <a:solidFill>
                  <a:srgbClr val="FFD166"/>
                </a:solidFill>
                <a:effectLst/>
                <a:latin typeface="Inter" panose="02000503000000020004" pitchFamily="2" charset="0"/>
              </a:rPr>
              <a:t>Diskominfo</a:t>
            </a:r>
            <a:r>
              <a:rPr lang="en-ID" b="1" i="0" dirty="0">
                <a:solidFill>
                  <a:srgbClr val="FFD166"/>
                </a:solidFill>
                <a:effectLst/>
                <a:latin typeface="Inter" panose="02000503000000020004" pitchFamily="2" charset="0"/>
              </a:rPr>
              <a:t> Kota Makassar</a:t>
            </a:r>
            <a:endParaRPr lang="en-ID" dirty="0"/>
          </a:p>
        </p:txBody>
      </p:sp>
      <p:pic>
        <p:nvPicPr>
          <p:cNvPr id="7" name="Picture 6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CE7EB346-BABA-27BA-C971-4956C9530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183" y="117844"/>
            <a:ext cx="2221634" cy="200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7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15BC-4B00-BC22-CFD8-A94815F7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Lanskap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Digital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DD2994-1F34-8C2B-6F14-C90FF0A8C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464" y="1952847"/>
            <a:ext cx="9437071" cy="2665335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D8A855D-E359-8CFC-4690-68BC027C14CE}"/>
              </a:ext>
            </a:extLst>
          </p:cNvPr>
          <p:cNvSpPr/>
          <p:nvPr/>
        </p:nvSpPr>
        <p:spPr>
          <a:xfrm>
            <a:off x="923635" y="1373371"/>
            <a:ext cx="6049819" cy="120073"/>
          </a:xfrm>
          <a:prstGeom prst="rect">
            <a:avLst/>
          </a:prstGeom>
          <a:solidFill>
            <a:srgbClr val="06E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1728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997F-04E2-31C1-87A8-FA202A83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Tiga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Pilar Strategi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Keamanan</a:t>
            </a:r>
            <a:endParaRPr lang="en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DB3CFB-322E-AD21-38C0-C4C3309A0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2388" y="2315424"/>
            <a:ext cx="9307224" cy="3353268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FE8764-0B4C-5855-287C-113B5A8BAC57}"/>
              </a:ext>
            </a:extLst>
          </p:cNvPr>
          <p:cNvSpPr/>
          <p:nvPr/>
        </p:nvSpPr>
        <p:spPr>
          <a:xfrm>
            <a:off x="923635" y="1373371"/>
            <a:ext cx="6049819" cy="120073"/>
          </a:xfrm>
          <a:prstGeom prst="rect">
            <a:avLst/>
          </a:prstGeom>
          <a:solidFill>
            <a:srgbClr val="06E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906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997F-04E2-31C1-87A8-FA202A83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1. Tata Kelola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Aset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E8764-0B4C-5855-287C-113B5A8BAC57}"/>
              </a:ext>
            </a:extLst>
          </p:cNvPr>
          <p:cNvSpPr/>
          <p:nvPr/>
        </p:nvSpPr>
        <p:spPr>
          <a:xfrm>
            <a:off x="923635" y="1373371"/>
            <a:ext cx="6049819" cy="120073"/>
          </a:xfrm>
          <a:prstGeom prst="rect">
            <a:avLst/>
          </a:prstGeom>
          <a:solidFill>
            <a:srgbClr val="06E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F92C9F-6D8D-BC82-293A-5EA7CB017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6754091" cy="1453284"/>
          </a:xfrm>
        </p:spPr>
        <p:txBody>
          <a:bodyPr/>
          <a:lstStyle/>
          <a:p>
            <a:pPr marL="0" indent="0">
              <a:buNone/>
            </a:pPr>
            <a:r>
              <a:rPr lang="en-ID" b="1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Inventarisasi</a:t>
            </a:r>
            <a:r>
              <a:rPr lang="en-ID" b="1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Aset</a:t>
            </a:r>
            <a:r>
              <a:rPr lang="en-ID" b="1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Digital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E4DA90-820F-4F0C-A838-57DA0DF69C1C}"/>
              </a:ext>
            </a:extLst>
          </p:cNvPr>
          <p:cNvSpPr txBox="1"/>
          <p:nvPr/>
        </p:nvSpPr>
        <p:spPr>
          <a:xfrm>
            <a:off x="838200" y="223726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Memetakan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seluruh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300+ domain, subdomain, dan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aplikasi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untuk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mengetahui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aset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mana yang paling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kritis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dan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memerlukan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perhatian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khusus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.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28B4FAE-1528-C70A-2482-7551AB9DFFCD}"/>
              </a:ext>
            </a:extLst>
          </p:cNvPr>
          <p:cNvSpPr txBox="1">
            <a:spLocks/>
          </p:cNvSpPr>
          <p:nvPr/>
        </p:nvSpPr>
        <p:spPr>
          <a:xfrm>
            <a:off x="4599709" y="3870037"/>
            <a:ext cx="6754091" cy="1453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D" b="1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Penilaian</a:t>
            </a:r>
            <a:r>
              <a:rPr lang="en-ID" b="1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Kerentanan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1FE604-DFF1-A305-6C44-3F31A2A0E041}"/>
              </a:ext>
            </a:extLst>
          </p:cNvPr>
          <p:cNvSpPr txBox="1"/>
          <p:nvPr/>
        </p:nvSpPr>
        <p:spPr>
          <a:xfrm>
            <a:off x="4599709" y="428168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Setiap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aset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dianalisis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secara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rutin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untuk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menemukan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potensi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kerentanannya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.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Aset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dengan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risiko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tertinggi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mendapatkan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prioritas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dan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perlakuan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khusus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9336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997F-04E2-31C1-87A8-FA202A83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2.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Perlindungan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Proaktif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E8764-0B4C-5855-287C-113B5A8BAC57}"/>
              </a:ext>
            </a:extLst>
          </p:cNvPr>
          <p:cNvSpPr/>
          <p:nvPr/>
        </p:nvSpPr>
        <p:spPr>
          <a:xfrm>
            <a:off x="923635" y="1373371"/>
            <a:ext cx="6049819" cy="120073"/>
          </a:xfrm>
          <a:prstGeom prst="rect">
            <a:avLst/>
          </a:prstGeom>
          <a:solidFill>
            <a:srgbClr val="06E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F92C9F-6D8D-BC82-293A-5EA7CB017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526" y="1690688"/>
            <a:ext cx="6754091" cy="1453284"/>
          </a:xfrm>
        </p:spPr>
        <p:txBody>
          <a:bodyPr/>
          <a:lstStyle/>
          <a:p>
            <a:pPr marL="0" indent="0">
              <a:buNone/>
            </a:pPr>
            <a:r>
              <a:rPr lang="en-ID" b="1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Manajemen</a:t>
            </a:r>
            <a:r>
              <a:rPr lang="en-ID" b="1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Patch Rutin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E4DA90-820F-4F0C-A838-57DA0DF69C1C}"/>
              </a:ext>
            </a:extLst>
          </p:cNvPr>
          <p:cNvSpPr txBox="1"/>
          <p:nvPr/>
        </p:nvSpPr>
        <p:spPr>
          <a:xfrm>
            <a:off x="5535526" y="210233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sv-SE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Secara berkala melakukan pembaruan </a:t>
            </a:r>
            <a:r>
              <a:rPr lang="sv-SE" b="0" i="1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package</a:t>
            </a:r>
            <a:r>
              <a:rPr lang="sv-SE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 pada server untuk menutup kerentanan.</a:t>
            </a:r>
            <a:endParaRPr lang="en-ID" b="0" i="0" dirty="0">
              <a:solidFill>
                <a:schemeClr val="bg1"/>
              </a:solidFill>
              <a:effectLst/>
              <a:latin typeface="Inter" panose="0200050300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E23255-E4FA-3557-A5D7-8B2CB7575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44" y="1595044"/>
            <a:ext cx="4572638" cy="5163271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F803390-C768-1EC9-0B9E-EFC893753AAC}"/>
              </a:ext>
            </a:extLst>
          </p:cNvPr>
          <p:cNvSpPr txBox="1">
            <a:spLocks/>
          </p:cNvSpPr>
          <p:nvPr/>
        </p:nvSpPr>
        <p:spPr>
          <a:xfrm>
            <a:off x="5535526" y="3160305"/>
            <a:ext cx="6754091" cy="1453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D" b="1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Kontrol</a:t>
            </a:r>
            <a:r>
              <a:rPr lang="en-ID" b="1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Akses</a:t>
            </a:r>
            <a:r>
              <a:rPr lang="en-ID" b="1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Diperketat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6EA052-0801-2DB8-8427-62CAE526735E}"/>
              </a:ext>
            </a:extLst>
          </p:cNvPr>
          <p:cNvSpPr txBox="1"/>
          <p:nvPr/>
        </p:nvSpPr>
        <p:spPr>
          <a:xfrm>
            <a:off x="5535526" y="35719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Membatasi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akses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ke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command-line tools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seperti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curl dan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wget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hanya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untuk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0" i="0" dirty="0" err="1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akun</a:t>
            </a:r>
            <a:r>
              <a:rPr lang="en-ID" b="0" i="0" dirty="0">
                <a:solidFill>
                  <a:schemeClr val="bg1"/>
                </a:solidFill>
                <a:effectLst/>
                <a:latin typeface="Inter" panose="02000503000000020004" pitchFamily="2" charset="0"/>
              </a:rPr>
              <a:t> root</a:t>
            </a:r>
          </a:p>
        </p:txBody>
      </p:sp>
    </p:spTree>
    <p:extLst>
      <p:ext uri="{BB962C8B-B14F-4D97-AF65-F5344CB8AC3E}">
        <p14:creationId xmlns:p14="http://schemas.microsoft.com/office/powerpoint/2010/main" val="289016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997F-04E2-31C1-87A8-FA202A83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3.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Respons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Insiden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E8764-0B4C-5855-287C-113B5A8BAC57}"/>
              </a:ext>
            </a:extLst>
          </p:cNvPr>
          <p:cNvSpPr/>
          <p:nvPr/>
        </p:nvSpPr>
        <p:spPr>
          <a:xfrm>
            <a:off x="923635" y="1373371"/>
            <a:ext cx="6049819" cy="120073"/>
          </a:xfrm>
          <a:prstGeom prst="rect">
            <a:avLst/>
          </a:prstGeom>
          <a:solidFill>
            <a:srgbClr val="06E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A94866-B22A-AC9B-258A-FC324EA8B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8508"/>
            <a:ext cx="4431453" cy="51595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592FCD-C72C-CC15-2E7B-0E2ADB6B0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777" y="1638508"/>
            <a:ext cx="4227718" cy="515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81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997F-04E2-31C1-87A8-FA202A83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Lanskap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Ancaman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&amp;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Tren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Serangan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E8764-0B4C-5855-287C-113B5A8BAC57}"/>
              </a:ext>
            </a:extLst>
          </p:cNvPr>
          <p:cNvSpPr/>
          <p:nvPr/>
        </p:nvSpPr>
        <p:spPr>
          <a:xfrm>
            <a:off x="923635" y="1373371"/>
            <a:ext cx="6049819" cy="120073"/>
          </a:xfrm>
          <a:prstGeom prst="rect">
            <a:avLst/>
          </a:prstGeom>
          <a:solidFill>
            <a:srgbClr val="06E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050269-5A3A-CFCE-AC73-3A4065DA2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322" y="1690688"/>
            <a:ext cx="9115356" cy="512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03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997F-04E2-31C1-87A8-FA202A83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Lanskap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Ancaman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&amp;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Tren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Serangan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E8764-0B4C-5855-287C-113B5A8BAC57}"/>
              </a:ext>
            </a:extLst>
          </p:cNvPr>
          <p:cNvSpPr/>
          <p:nvPr/>
        </p:nvSpPr>
        <p:spPr>
          <a:xfrm>
            <a:off x="923635" y="1373371"/>
            <a:ext cx="6049819" cy="120073"/>
          </a:xfrm>
          <a:prstGeom prst="rect">
            <a:avLst/>
          </a:prstGeom>
          <a:solidFill>
            <a:srgbClr val="06E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438BD-74B6-EF64-CBF7-6377D2D3D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103" y="1493444"/>
            <a:ext cx="8269793" cy="523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74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997F-04E2-31C1-87A8-FA202A83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Lanskap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Ancaman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&amp;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Tren</a:t>
            </a:r>
            <a:r>
              <a:rPr lang="en-ID" b="1" i="0" dirty="0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 </a:t>
            </a:r>
            <a:r>
              <a:rPr lang="en-ID" b="1" i="0" dirty="0" err="1">
                <a:solidFill>
                  <a:srgbClr val="FFFFFF"/>
                </a:solidFill>
                <a:effectLst/>
                <a:latin typeface="Inter" panose="02000503000000020004" pitchFamily="2" charset="0"/>
              </a:rPr>
              <a:t>Serangan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E8764-0B4C-5855-287C-113B5A8BAC57}"/>
              </a:ext>
            </a:extLst>
          </p:cNvPr>
          <p:cNvSpPr/>
          <p:nvPr/>
        </p:nvSpPr>
        <p:spPr>
          <a:xfrm>
            <a:off x="923635" y="1373371"/>
            <a:ext cx="6049819" cy="120073"/>
          </a:xfrm>
          <a:prstGeom prst="rect">
            <a:avLst/>
          </a:prstGeom>
          <a:solidFill>
            <a:srgbClr val="06E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25160B-8302-AA77-CE1F-F41E03B6B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094" y="1690688"/>
            <a:ext cx="9250066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181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997F-04E2-31C1-87A8-FA202A83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E8764-0B4C-5855-287C-113B5A8BAC57}"/>
              </a:ext>
            </a:extLst>
          </p:cNvPr>
          <p:cNvSpPr/>
          <p:nvPr/>
        </p:nvSpPr>
        <p:spPr>
          <a:xfrm>
            <a:off x="923635" y="1373371"/>
            <a:ext cx="6049819" cy="120073"/>
          </a:xfrm>
          <a:prstGeom prst="rect">
            <a:avLst/>
          </a:prstGeom>
          <a:solidFill>
            <a:srgbClr val="06E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CB3D0-DACB-7351-2A8B-984FA021B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51" y="2628788"/>
            <a:ext cx="9297698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28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997F-04E2-31C1-87A8-FA202A83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E8764-0B4C-5855-287C-113B5A8BAC57}"/>
              </a:ext>
            </a:extLst>
          </p:cNvPr>
          <p:cNvSpPr/>
          <p:nvPr/>
        </p:nvSpPr>
        <p:spPr>
          <a:xfrm>
            <a:off x="923635" y="1373371"/>
            <a:ext cx="6049819" cy="120073"/>
          </a:xfrm>
          <a:prstGeom prst="rect">
            <a:avLst/>
          </a:prstGeom>
          <a:solidFill>
            <a:srgbClr val="06E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9CE62E-DF57-F5B0-65C0-C07EE8ED8B25}"/>
              </a:ext>
            </a:extLst>
          </p:cNvPr>
          <p:cNvSpPr txBox="1"/>
          <p:nvPr/>
        </p:nvSpPr>
        <p:spPr>
          <a:xfrm>
            <a:off x="3048000" y="250169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i="1" dirty="0">
                <a:solidFill>
                  <a:schemeClr val="bg1"/>
                </a:solidFill>
              </a:rPr>
              <a:t>Security is a </a:t>
            </a:r>
            <a:r>
              <a:rPr lang="en-US" sz="3600" b="1" i="1" dirty="0">
                <a:solidFill>
                  <a:schemeClr val="bg1"/>
                </a:solidFill>
              </a:rPr>
              <a:t>process</a:t>
            </a:r>
            <a:r>
              <a:rPr lang="en-US" sz="3600" i="1" dirty="0">
                <a:solidFill>
                  <a:schemeClr val="bg1"/>
                </a:solidFill>
              </a:rPr>
              <a:t>, </a:t>
            </a:r>
          </a:p>
          <a:p>
            <a:pPr algn="ctr"/>
            <a:r>
              <a:rPr lang="en-US" sz="3600" i="1" dirty="0">
                <a:solidFill>
                  <a:schemeClr val="bg1"/>
                </a:solidFill>
              </a:rPr>
              <a:t>not a </a:t>
            </a:r>
            <a:r>
              <a:rPr lang="en-US" sz="3600" b="1" i="1" dirty="0">
                <a:solidFill>
                  <a:schemeClr val="bg1"/>
                </a:solidFill>
              </a:rPr>
              <a:t>product</a:t>
            </a:r>
            <a:r>
              <a:rPr lang="en-US" sz="3600" i="1" dirty="0">
                <a:solidFill>
                  <a:schemeClr val="bg1"/>
                </a:solidFill>
              </a:rPr>
              <a:t>.</a:t>
            </a:r>
            <a:endParaRPr lang="en-ID" sz="3600" b="1" i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BB06DF-82D1-6FD0-1890-FCF041DD9E2C}"/>
              </a:ext>
            </a:extLst>
          </p:cNvPr>
          <p:cNvSpPr txBox="1"/>
          <p:nvPr/>
        </p:nvSpPr>
        <p:spPr>
          <a:xfrm>
            <a:off x="1644072" y="227085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“</a:t>
            </a:r>
            <a:endParaRPr lang="en-ID" sz="4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48389-5A4A-8641-4344-CC177F6B93C2}"/>
              </a:ext>
            </a:extLst>
          </p:cNvPr>
          <p:cNvSpPr txBox="1"/>
          <p:nvPr/>
        </p:nvSpPr>
        <p:spPr>
          <a:xfrm>
            <a:off x="10090726" y="342900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”</a:t>
            </a:r>
            <a:endParaRPr lang="en-ID" sz="48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DD3A4-6C03-F678-D853-3859E47054E3}"/>
              </a:ext>
            </a:extLst>
          </p:cNvPr>
          <p:cNvSpPr txBox="1"/>
          <p:nvPr/>
        </p:nvSpPr>
        <p:spPr>
          <a:xfrm>
            <a:off x="2050473" y="3722525"/>
            <a:ext cx="8091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i="1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- Bruce Schneier</a:t>
            </a:r>
            <a:endParaRPr lang="en-ID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85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131</Words>
  <Application>Microsoft Office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Inter</vt:lpstr>
      <vt:lpstr>Roboto</vt:lpstr>
      <vt:lpstr>Office Theme</vt:lpstr>
      <vt:lpstr>Manajemen Risiko Siber</vt:lpstr>
      <vt:lpstr>Lanskap Digital</vt:lpstr>
      <vt:lpstr>Tiga Pilar Strategi Keamanan</vt:lpstr>
      <vt:lpstr>1. Tata Kelola Aset</vt:lpstr>
      <vt:lpstr>2. Perlindungan Proaktif</vt:lpstr>
      <vt:lpstr>3. Respons Insiden</vt:lpstr>
      <vt:lpstr>Lanskap Ancaman &amp; Tren Serangan</vt:lpstr>
      <vt:lpstr>Lanskap Ancaman &amp; Tren Serangan</vt:lpstr>
      <vt:lpstr>Lanskap Ancaman &amp; Tren Serangan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Angki Ang</dc:creator>
  <cp:lastModifiedBy>Angki Ang</cp:lastModifiedBy>
  <cp:revision>1</cp:revision>
  <dcterms:created xsi:type="dcterms:W3CDTF">2025-09-25T00:37:30Z</dcterms:created>
  <dcterms:modified xsi:type="dcterms:W3CDTF">2025-09-25T01:20:05Z</dcterms:modified>
</cp:coreProperties>
</file>